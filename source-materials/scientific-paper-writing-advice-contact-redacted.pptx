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38" r:id="rId2"/>
    <p:sldId id="562" r:id="rId3"/>
    <p:sldId id="538" r:id="rId4"/>
    <p:sldId id="539" r:id="rId5"/>
    <p:sldId id="546" r:id="rId6"/>
    <p:sldId id="541" r:id="rId7"/>
    <p:sldId id="542" r:id="rId8"/>
    <p:sldId id="543" r:id="rId9"/>
    <p:sldId id="548" r:id="rId10"/>
    <p:sldId id="540" r:id="rId11"/>
    <p:sldId id="544" r:id="rId12"/>
    <p:sldId id="553" r:id="rId13"/>
    <p:sldId id="556" r:id="rId14"/>
    <p:sldId id="554" r:id="rId15"/>
    <p:sldId id="555" r:id="rId16"/>
    <p:sldId id="557" r:id="rId17"/>
    <p:sldId id="558" r:id="rId18"/>
    <p:sldId id="559" r:id="rId19"/>
    <p:sldId id="561" r:id="rId20"/>
    <p:sldId id="550" r:id="rId21"/>
    <p:sldId id="549" r:id="rId22"/>
    <p:sldId id="552" r:id="rId23"/>
    <p:sldId id="560" r:id="rId24"/>
    <p:sldId id="296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y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B2B"/>
    <a:srgbClr val="E6E6E6"/>
    <a:srgbClr val="3F5345"/>
    <a:srgbClr val="FFFFFF"/>
    <a:srgbClr val="993F32"/>
    <a:srgbClr val="013300"/>
    <a:srgbClr val="010066"/>
    <a:srgbClr val="050568"/>
    <a:srgbClr val="323180"/>
    <a:srgbClr val="3F5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0" autoAdjust="0"/>
    <p:restoredTop sz="83375" autoAdjust="0"/>
  </p:normalViewPr>
  <p:slideViewPr>
    <p:cSldViewPr>
      <p:cViewPr varScale="1">
        <p:scale>
          <a:sx n="69" d="100"/>
          <a:sy n="69" d="100"/>
        </p:scale>
        <p:origin x="201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67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D9F3A-D6AC-4A72-B1B3-1075ED853C1C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42F1F-B44F-427F-8F6C-17A2CC73D9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290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789C56F-54A7-4979-885D-2816B40ED69A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0235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9C56F-54A7-4979-885D-2816B40ED69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74907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自强    弘毅    求是    拓新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611560" y="298748"/>
            <a:ext cx="7128792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>
                <a:solidFill>
                  <a:srgbClr val="243B2B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457200" y="1196770"/>
            <a:ext cx="8229600" cy="496852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>
              <a:defRPr sz="2400" baseline="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>
              <a:defRPr sz="2000" baseline="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>
              <a:defRPr sz="1800" baseline="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>
              <a:defRPr sz="1800" baseline="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8878832" y="6602833"/>
            <a:ext cx="265168" cy="261695"/>
          </a:xfrm>
          <a:prstGeom prst="rect">
            <a:avLst/>
          </a:prstGeom>
          <a:solidFill>
            <a:srgbClr val="243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8795900" y="6593209"/>
            <a:ext cx="395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5F8A3B5-EB76-438E-AC89-B26C87C2D751}" type="slidenum">
              <a:rPr lang="zh-CN" altLang="en-US" sz="105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/>
              <a:t>‹#›</a:t>
            </a:fld>
            <a:endParaRPr lang="zh-CN" altLang="en-US" sz="11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/>
          <a:srcRect t="1" b="43784"/>
          <a:stretch/>
        </p:blipFill>
        <p:spPr>
          <a:xfrm>
            <a:off x="8100392" y="260728"/>
            <a:ext cx="794384" cy="720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FC80C95-16BE-47AD-A6DF-A50274E96E68}"/>
              </a:ext>
            </a:extLst>
          </p:cNvPr>
          <p:cNvSpPr/>
          <p:nvPr userDrawn="1"/>
        </p:nvSpPr>
        <p:spPr>
          <a:xfrm>
            <a:off x="-7256" y="345937"/>
            <a:ext cx="384629" cy="562113"/>
          </a:xfrm>
          <a:prstGeom prst="rect">
            <a:avLst/>
          </a:prstGeom>
          <a:solidFill>
            <a:srgbClr val="243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94818B-0A12-4729-8C4A-971F5A4C4BBB}"/>
              </a:ext>
            </a:extLst>
          </p:cNvPr>
          <p:cNvSpPr/>
          <p:nvPr userDrawn="1"/>
        </p:nvSpPr>
        <p:spPr>
          <a:xfrm>
            <a:off x="413657" y="345937"/>
            <a:ext cx="108000" cy="562113"/>
          </a:xfrm>
          <a:prstGeom prst="rect">
            <a:avLst/>
          </a:prstGeom>
          <a:solidFill>
            <a:srgbClr val="243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C6EB01A-359C-4C2A-8F2C-70875268027D}"/>
              </a:ext>
            </a:extLst>
          </p:cNvPr>
          <p:cNvCxnSpPr>
            <a:cxnSpLocks/>
          </p:cNvCxnSpPr>
          <p:nvPr userDrawn="1"/>
        </p:nvCxnSpPr>
        <p:spPr>
          <a:xfrm>
            <a:off x="611560" y="1006130"/>
            <a:ext cx="818434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30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83374" y="5517232"/>
            <a:ext cx="3492500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主讲人：邵森林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900"/>
              </a:spcBef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  期：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2021.11.04</a:t>
            </a:r>
          </a:p>
        </p:txBody>
      </p:sp>
      <p:grpSp>
        <p:nvGrpSpPr>
          <p:cNvPr id="3076" name="组合 2"/>
          <p:cNvGrpSpPr>
            <a:grpSpLocks/>
          </p:cNvGrpSpPr>
          <p:nvPr/>
        </p:nvGrpSpPr>
        <p:grpSpPr bwMode="auto">
          <a:xfrm>
            <a:off x="806530" y="1564130"/>
            <a:ext cx="6285750" cy="1731400"/>
            <a:chOff x="683571" y="978723"/>
            <a:chExt cx="6285137" cy="1731456"/>
          </a:xfrm>
        </p:grpSpPr>
        <p:grpSp>
          <p:nvGrpSpPr>
            <p:cNvPr id="3077" name="组合 1"/>
            <p:cNvGrpSpPr>
              <a:grpSpLocks/>
            </p:cNvGrpSpPr>
            <p:nvPr/>
          </p:nvGrpSpPr>
          <p:grpSpPr bwMode="auto">
            <a:xfrm>
              <a:off x="760408" y="2050320"/>
              <a:ext cx="6208300" cy="659859"/>
              <a:chOff x="724404" y="1998290"/>
              <a:chExt cx="6208300" cy="659859"/>
            </a:xfrm>
          </p:grpSpPr>
          <p:cxnSp>
            <p:nvCxnSpPr>
              <p:cNvPr id="12" name="直接连接符 11"/>
              <p:cNvCxnSpPr>
                <a:cxnSpLocks/>
              </p:cNvCxnSpPr>
              <p:nvPr/>
            </p:nvCxnSpPr>
            <p:spPr>
              <a:xfrm>
                <a:off x="724404" y="1998290"/>
                <a:ext cx="6208300" cy="0"/>
              </a:xfrm>
              <a:prstGeom prst="line">
                <a:avLst/>
              </a:prstGeom>
              <a:ln>
                <a:solidFill>
                  <a:srgbClr val="243B2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/>
              <p:cNvSpPr/>
              <p:nvPr/>
            </p:nvSpPr>
            <p:spPr>
              <a:xfrm>
                <a:off x="747175" y="2134912"/>
                <a:ext cx="6035743" cy="5232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Tips for Writing Effective Papers</a:t>
                </a:r>
                <a:endParaRPr lang="zh-CN" altLang="en-US" sz="2800" b="1" dirty="0">
                  <a:solidFill>
                    <a:srgbClr val="C00000"/>
                  </a:solidFill>
                  <a:latin typeface="Arial Black" pitchFamily="34" charset="0"/>
                  <a:ea typeface="微软雅黑" pitchFamily="34" charset="-122"/>
                  <a:cs typeface="+mj-cs"/>
                </a:endParaRPr>
              </a:p>
            </p:txBody>
          </p:sp>
        </p:grpSp>
        <p:sp>
          <p:nvSpPr>
            <p:cNvPr id="8" name="标题 1"/>
            <p:cNvSpPr txBox="1">
              <a:spLocks/>
            </p:cNvSpPr>
            <p:nvPr/>
          </p:nvSpPr>
          <p:spPr bwMode="auto">
            <a:xfrm>
              <a:off x="683571" y="978723"/>
              <a:ext cx="5853131" cy="1208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/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fontAlgn="auto" hangingPunct="1">
                <a:spcAft>
                  <a:spcPts val="0"/>
                </a:spcAft>
                <a:defRPr/>
              </a:pPr>
              <a:r>
                <a:rPr lang="zh-CN" altLang="en-US" sz="4000" b="1" dirty="0">
                  <a:solidFill>
                    <a:srgbClr val="243B2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写好科技论文的一些建议</a:t>
              </a:r>
            </a:p>
          </p:txBody>
        </p:sp>
      </p:grpSp>
      <p:pic>
        <p:nvPicPr>
          <p:cNvPr id="10" name="图片 9" descr="卡通人物&#10;&#10;低可信度描述已自动生成">
            <a:extLst>
              <a:ext uri="{FF2B5EF4-FFF2-40B4-BE49-F238E27FC236}">
                <a16:creationId xmlns:a16="http://schemas.microsoft.com/office/drawing/2014/main" id="{0087EDDE-14B3-4FFF-A9EF-A21C4C07C2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395" y="3671988"/>
            <a:ext cx="4516605" cy="30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02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F8A7E-B26A-41C0-8C5C-FA0E085D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为何要写科技论文？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62B14E-37C1-4745-921D-F2D420AF4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机理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现象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431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3DDB4-FDC6-43C3-A63D-BFF4F4CB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为何要写科技论文？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4D02AB-D33B-4156-8F40-33A2210C8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31" y="4077073"/>
            <a:ext cx="7920000" cy="19570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FC6EA5-1CBF-41B0-BBCE-307A60CE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31" y="1268760"/>
            <a:ext cx="7867938" cy="2055889"/>
          </a:xfrm>
          <a:prstGeom prst="rect">
            <a:avLst/>
          </a:prstGeom>
        </p:spPr>
      </p:pic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B24D4C3C-7FF4-4265-8B58-82F2A1B4A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422320"/>
            <a:ext cx="2626447" cy="111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08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E3DFB-9548-42F7-82F0-134FB4D2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论文不是实验报告（</a:t>
            </a:r>
            <a:r>
              <a:rPr lang="en-US" altLang="zh-CN" b="1" dirty="0"/>
              <a:t>Report</a:t>
            </a:r>
            <a:r>
              <a:rPr lang="zh-CN" altLang="en-US" b="1" dirty="0"/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9F4D57-8980-4BAB-85D7-28421409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443404"/>
            <a:ext cx="7920000" cy="149494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BA6386DB-7D13-4900-947A-CAF718F9476B}"/>
              </a:ext>
            </a:extLst>
          </p:cNvPr>
          <p:cNvGrpSpPr/>
          <p:nvPr/>
        </p:nvGrpSpPr>
        <p:grpSpPr>
          <a:xfrm>
            <a:off x="1325637" y="3174336"/>
            <a:ext cx="6492726" cy="1906323"/>
            <a:chOff x="1679674" y="3660270"/>
            <a:chExt cx="6492726" cy="1906323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B1DD704-E0CA-48B6-98C4-7BE3F5D90A12}"/>
                </a:ext>
              </a:extLst>
            </p:cNvPr>
            <p:cNvSpPr txBox="1"/>
            <p:nvPr/>
          </p:nvSpPr>
          <p:spPr>
            <a:xfrm>
              <a:off x="1691680" y="3660270"/>
              <a:ext cx="648072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243B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manuscript looks like a </a:t>
              </a:r>
              <a:r>
                <a:rPr lang="en-US" altLang="zh-CN" sz="36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</a:t>
              </a:r>
              <a:r>
                <a: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3600" dirty="0">
                  <a:solidFill>
                    <a:srgbClr val="243B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rather than a </a:t>
              </a:r>
              <a:r>
                <a:rPr lang="en-US" altLang="zh-CN" sz="36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scientific paper</a:t>
              </a:r>
              <a:endParaRPr lang="zh-CN" alt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860C841-CDAA-4D2D-8FF6-F619C6DA7377}"/>
                </a:ext>
              </a:extLst>
            </p:cNvPr>
            <p:cNvSpPr txBox="1"/>
            <p:nvPr/>
          </p:nvSpPr>
          <p:spPr>
            <a:xfrm>
              <a:off x="1679674" y="3660270"/>
              <a:ext cx="10081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</a:t>
              </a:r>
              <a:endPara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2FB3F8E-7E4D-403C-B1C6-B3D8EE9AC188}"/>
                </a:ext>
              </a:extLst>
            </p:cNvPr>
            <p:cNvSpPr txBox="1"/>
            <p:nvPr/>
          </p:nvSpPr>
          <p:spPr>
            <a:xfrm>
              <a:off x="5652120" y="4797152"/>
              <a:ext cx="10081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”</a:t>
              </a:r>
              <a:endPara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D6BB555-1379-4699-8DDB-76525A9FDE41}"/>
              </a:ext>
            </a:extLst>
          </p:cNvPr>
          <p:cNvCxnSpPr>
            <a:cxnSpLocks/>
          </p:cNvCxnSpPr>
          <p:nvPr/>
        </p:nvCxnSpPr>
        <p:spPr>
          <a:xfrm>
            <a:off x="2319086" y="4532139"/>
            <a:ext cx="0" cy="720000"/>
          </a:xfrm>
          <a:prstGeom prst="straightConnector1">
            <a:avLst/>
          </a:prstGeom>
          <a:ln>
            <a:solidFill>
              <a:srgbClr val="243B2B"/>
            </a:solidFill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1CAB0E6-E914-4EF8-A3F4-546EE34BADB3}"/>
              </a:ext>
            </a:extLst>
          </p:cNvPr>
          <p:cNvCxnSpPr>
            <a:cxnSpLocks/>
          </p:cNvCxnSpPr>
          <p:nvPr/>
        </p:nvCxnSpPr>
        <p:spPr>
          <a:xfrm>
            <a:off x="6711574" y="4532139"/>
            <a:ext cx="0" cy="720000"/>
          </a:xfrm>
          <a:prstGeom prst="straightConnector1">
            <a:avLst/>
          </a:prstGeom>
          <a:ln>
            <a:solidFill>
              <a:srgbClr val="243B2B"/>
            </a:solidFill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0118CE9-6921-4CC9-A97A-ECD30B59CA1C}"/>
              </a:ext>
            </a:extLst>
          </p:cNvPr>
          <p:cNvSpPr txBox="1"/>
          <p:nvPr/>
        </p:nvSpPr>
        <p:spPr>
          <a:xfrm>
            <a:off x="1238966" y="5488131"/>
            <a:ext cx="2160240" cy="753220"/>
          </a:xfrm>
          <a:prstGeom prst="rect">
            <a:avLst/>
          </a:prstGeom>
          <a:noFill/>
          <a:ln>
            <a:solidFill>
              <a:srgbClr val="243B2B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实验顺序、现象记录、多目标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F86A46-9A92-46E0-B600-BF3A7577C40D}"/>
              </a:ext>
            </a:extLst>
          </p:cNvPr>
          <p:cNvSpPr txBox="1"/>
          <p:nvPr/>
        </p:nvSpPr>
        <p:spPr>
          <a:xfrm>
            <a:off x="5631454" y="5488131"/>
            <a:ext cx="2160240" cy="753220"/>
          </a:xfrm>
          <a:prstGeom prst="rect">
            <a:avLst/>
          </a:prstGeom>
          <a:noFill/>
          <a:ln>
            <a:solidFill>
              <a:srgbClr val="243B2B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逻辑顺序、机理分析、单目标</a:t>
            </a:r>
          </a:p>
        </p:txBody>
      </p:sp>
    </p:spTree>
    <p:extLst>
      <p:ext uri="{BB962C8B-B14F-4D97-AF65-F5344CB8AC3E}">
        <p14:creationId xmlns:p14="http://schemas.microsoft.com/office/powerpoint/2010/main" val="8848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FA883-D9EA-4A95-B8DE-17DD7F17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论文的选题（</a:t>
            </a:r>
            <a:r>
              <a:rPr lang="en-US" altLang="zh-CN" b="1" dirty="0"/>
              <a:t>Topic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B92283-7D45-489B-89EC-F6058C94E2AD}"/>
              </a:ext>
            </a:extLst>
          </p:cNvPr>
          <p:cNvSpPr txBox="1"/>
          <p:nvPr/>
        </p:nvSpPr>
        <p:spPr>
          <a:xfrm>
            <a:off x="2411760" y="1556792"/>
            <a:ext cx="432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工程案例 </a:t>
            </a:r>
            <a:r>
              <a:rPr lang="en-US" altLang="zh-CN" sz="32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32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科学问题 </a:t>
            </a:r>
            <a:endParaRPr lang="en-US" altLang="zh-CN" sz="3200" b="1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FD61761-CA9D-416E-9525-4195BB4BF0CB}"/>
              </a:ext>
            </a:extLst>
          </p:cNvPr>
          <p:cNvCxnSpPr>
            <a:cxnSpLocks/>
          </p:cNvCxnSpPr>
          <p:nvPr/>
        </p:nvCxnSpPr>
        <p:spPr>
          <a:xfrm>
            <a:off x="4572000" y="2348880"/>
            <a:ext cx="0" cy="2808312"/>
          </a:xfrm>
          <a:prstGeom prst="straightConnector1">
            <a:avLst/>
          </a:prstGeom>
          <a:ln>
            <a:solidFill>
              <a:srgbClr val="243B2B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D972E84-23B5-4ED5-92ED-405E91727FA1}"/>
              </a:ext>
            </a:extLst>
          </p:cNvPr>
          <p:cNvSpPr txBox="1"/>
          <p:nvPr/>
        </p:nvSpPr>
        <p:spPr>
          <a:xfrm>
            <a:off x="1259633" y="2624147"/>
            <a:ext cx="32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今天晚上吃多少饭能饱腹？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0C9E56-5430-4002-8C9D-00C21FB940EA}"/>
              </a:ext>
            </a:extLst>
          </p:cNvPr>
          <p:cNvSpPr txBox="1"/>
          <p:nvPr/>
        </p:nvSpPr>
        <p:spPr>
          <a:xfrm>
            <a:off x="4788024" y="2636912"/>
            <a:ext cx="324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血糖浓度、饱腹感之间关系及作用机制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6AE8DA3-B9F7-418D-AB06-8A682849C81E}"/>
              </a:ext>
            </a:extLst>
          </p:cNvPr>
          <p:cNvSpPr txBox="1"/>
          <p:nvPr/>
        </p:nvSpPr>
        <p:spPr>
          <a:xfrm>
            <a:off x="3191945" y="3516157"/>
            <a:ext cx="9809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特殊性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个例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（我）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283D99-7ECC-4DD8-AE48-57A6060741DC}"/>
              </a:ext>
            </a:extLst>
          </p:cNvPr>
          <p:cNvSpPr txBox="1"/>
          <p:nvPr/>
        </p:nvSpPr>
        <p:spPr>
          <a:xfrm>
            <a:off x="4629651" y="3506366"/>
            <a:ext cx="15841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普适性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基础性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（小白鼠）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84126B-697D-44D3-8744-5204120AED1F}"/>
              </a:ext>
            </a:extLst>
          </p:cNvPr>
          <p:cNvSpPr txBox="1"/>
          <p:nvPr/>
        </p:nvSpPr>
        <p:spPr>
          <a:xfrm>
            <a:off x="1421291" y="5517232"/>
            <a:ext cx="6156683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</a:t>
            </a:r>
            <a:r>
              <a:rPr lang="zh-CN" altLang="en-US" sz="24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4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、观点</a:t>
            </a:r>
            <a:r>
              <a:rPr lang="zh-CN" altLang="en-US" sz="24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</a:t>
            </a:r>
            <a:r>
              <a:rPr lang="zh-CN" altLang="en-US" sz="24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、选题</a:t>
            </a:r>
            <a:r>
              <a:rPr lang="zh-CN" altLang="en-US" sz="24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en-US" sz="24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</a:t>
            </a:r>
            <a:r>
              <a:rPr lang="zh-CN" altLang="en-US" sz="24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endParaRPr lang="en-US" altLang="zh-CN" sz="2400" b="1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实验思路先于实验</a:t>
            </a:r>
            <a:endParaRPr lang="en-US" altLang="zh-CN" sz="24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465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ADBA0-9144-4478-A10C-B1118D88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什么时候开始写论文？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48BC55-F805-4BB4-982E-102CB5C11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340768"/>
            <a:ext cx="7920000" cy="483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4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CFB95-095E-4DBF-8C15-C29DA3D3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提纲（</a:t>
            </a:r>
            <a:r>
              <a:rPr lang="en-US" altLang="zh-CN" b="1" dirty="0"/>
              <a:t>Outline</a:t>
            </a:r>
            <a:r>
              <a:rPr lang="zh-CN" altLang="en-US" b="1" dirty="0"/>
              <a:t>）的重要性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F7746D-4949-4BB3-A680-6BCCFEF4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196752"/>
            <a:ext cx="7920000" cy="30894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A4DF03-F58B-46D6-829D-6075B20CB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90" y="4406095"/>
            <a:ext cx="7920000" cy="224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4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C805E-99D3-43EC-8DB4-8F7641AF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如何准备</a:t>
            </a:r>
            <a:r>
              <a:rPr lang="en-US" altLang="zh-CN" b="1" dirty="0"/>
              <a:t>Outline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3D530-E1A8-4262-9EBF-3EFB24555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70"/>
            <a:ext cx="8229600" cy="439247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243B2B"/>
                </a:solidFill>
              </a:rPr>
              <a:t>明确研究动机并提出假设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 lvl="1">
              <a:lnSpc>
                <a:spcPct val="125000"/>
              </a:lnSpc>
              <a:buFont typeface="Arial" panose="020B0604020202020204" pitchFamily="34" charset="0"/>
              <a:buChar char="−"/>
            </a:pPr>
            <a:r>
              <a:rPr lang="en-US" altLang="zh-CN" sz="2000" dirty="0">
                <a:solidFill>
                  <a:srgbClr val="243B2B"/>
                </a:solidFill>
              </a:rPr>
              <a:t>Why did I do this work</a:t>
            </a:r>
            <a:r>
              <a:rPr lang="zh-CN" altLang="en-US" sz="2000" dirty="0">
                <a:solidFill>
                  <a:srgbClr val="243B2B"/>
                </a:solidFill>
              </a:rPr>
              <a:t>？ </a:t>
            </a:r>
            <a:endParaRPr lang="en-US" altLang="zh-CN" sz="2000" dirty="0">
              <a:solidFill>
                <a:srgbClr val="243B2B"/>
              </a:solidFill>
            </a:endParaRPr>
          </a:p>
          <a:p>
            <a:pPr lvl="1">
              <a:lnSpc>
                <a:spcPct val="125000"/>
              </a:lnSpc>
              <a:buFont typeface="Arial" panose="020B0604020202020204" pitchFamily="34" charset="0"/>
              <a:buChar char="−"/>
            </a:pPr>
            <a:r>
              <a:rPr lang="en-US" altLang="zh-CN" sz="2000" dirty="0">
                <a:solidFill>
                  <a:srgbClr val="243B2B"/>
                </a:solidFill>
              </a:rPr>
              <a:t>What were the central motivations and hypotheses</a:t>
            </a:r>
            <a:r>
              <a:rPr lang="zh-CN" altLang="en-US" sz="2000" dirty="0">
                <a:solidFill>
                  <a:srgbClr val="243B2B"/>
                </a:solidFill>
              </a:rPr>
              <a:t>？</a:t>
            </a:r>
            <a:endParaRPr lang="en-US" altLang="zh-CN" sz="20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243B2B"/>
                </a:solidFill>
              </a:rPr>
              <a:t>可行性</a:t>
            </a:r>
            <a:r>
              <a:rPr lang="en-US" altLang="zh-CN" sz="2400" dirty="0">
                <a:solidFill>
                  <a:srgbClr val="243B2B"/>
                </a:solidFill>
              </a:rPr>
              <a:t>——</a:t>
            </a:r>
            <a:r>
              <a:rPr lang="zh-CN" altLang="en-US" sz="2400" dirty="0">
                <a:solidFill>
                  <a:srgbClr val="243B2B"/>
                </a:solidFill>
              </a:rPr>
              <a:t>关键的试探性实验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 lvl="1">
              <a:lnSpc>
                <a:spcPct val="125000"/>
              </a:lnSpc>
              <a:buFont typeface="Arial" panose="020B0604020202020204" pitchFamily="34" charset="0"/>
              <a:buChar char="−"/>
            </a:pPr>
            <a:r>
              <a:rPr lang="zh-CN" altLang="en-US" sz="2000" dirty="0">
                <a:solidFill>
                  <a:srgbClr val="243B2B"/>
                </a:solidFill>
              </a:rPr>
              <a:t>可以是定性的实验</a:t>
            </a:r>
            <a:endParaRPr lang="en-US" altLang="zh-CN" sz="2000" dirty="0">
              <a:solidFill>
                <a:srgbClr val="243B2B"/>
              </a:solidFill>
            </a:endParaRPr>
          </a:p>
          <a:p>
            <a:pPr lvl="1">
              <a:lnSpc>
                <a:spcPct val="125000"/>
              </a:lnSpc>
              <a:buFont typeface="Arial" panose="020B0604020202020204" pitchFamily="34" charset="0"/>
              <a:buChar char="−"/>
            </a:pPr>
            <a:r>
              <a:rPr lang="zh-CN" altLang="en-US" sz="2000" dirty="0">
                <a:solidFill>
                  <a:srgbClr val="243B2B"/>
                </a:solidFill>
              </a:rPr>
              <a:t>实验中的硬骨头，先做最重要的实验</a:t>
            </a:r>
            <a:endParaRPr lang="en-US" altLang="zh-CN" sz="20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243B2B"/>
                </a:solidFill>
              </a:rPr>
              <a:t>结合预期数据画出简图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 lvl="1">
              <a:lnSpc>
                <a:spcPct val="125000"/>
              </a:lnSpc>
              <a:buFont typeface="Arial" panose="020B0604020202020204" pitchFamily="34" charset="0"/>
              <a:buChar char="−"/>
            </a:pPr>
            <a:r>
              <a:rPr lang="zh-CN" altLang="en-US" sz="2000" dirty="0">
                <a:solidFill>
                  <a:srgbClr val="243B2B"/>
                </a:solidFill>
              </a:rPr>
              <a:t>如何更有逻辑地呈现数据</a:t>
            </a:r>
            <a:endParaRPr lang="en-US" altLang="zh-CN" sz="2000" dirty="0">
              <a:solidFill>
                <a:srgbClr val="243B2B"/>
              </a:solidFill>
            </a:endParaRPr>
          </a:p>
          <a:p>
            <a:pPr lvl="1">
              <a:lnSpc>
                <a:spcPct val="125000"/>
              </a:lnSpc>
              <a:buFont typeface="Arial" panose="020B0604020202020204" pitchFamily="34" charset="0"/>
              <a:buChar char="−"/>
            </a:pPr>
            <a:r>
              <a:rPr lang="zh-CN" altLang="en-US" sz="2000" dirty="0">
                <a:solidFill>
                  <a:srgbClr val="243B2B"/>
                </a:solidFill>
              </a:rPr>
              <a:t>如何更简洁、有说服力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E8B33A-1752-4940-B2D5-CD111360835E}"/>
              </a:ext>
            </a:extLst>
          </p:cNvPr>
          <p:cNvSpPr txBox="1"/>
          <p:nvPr/>
        </p:nvSpPr>
        <p:spPr>
          <a:xfrm>
            <a:off x="457200" y="5605145"/>
            <a:ext cx="8229600" cy="1120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千万不要等到实验做完了再来准备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Outline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根据实验结果及时反馈</a:t>
            </a:r>
          </a:p>
        </p:txBody>
      </p:sp>
    </p:spTree>
    <p:extLst>
      <p:ext uri="{BB962C8B-B14F-4D97-AF65-F5344CB8AC3E}">
        <p14:creationId xmlns:p14="http://schemas.microsoft.com/office/powerpoint/2010/main" val="333793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A8431-020E-4479-8704-A6AF27D6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如何准备</a:t>
            </a:r>
            <a:r>
              <a:rPr lang="en-US" altLang="zh-CN" b="1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AF8903-9B65-42FB-8C16-5EF4776E3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43B2B"/>
                </a:solidFill>
              </a:rPr>
              <a:t>Title</a:t>
            </a:r>
          </a:p>
          <a:p>
            <a:r>
              <a:rPr lang="en-US" altLang="zh-CN" dirty="0">
                <a:solidFill>
                  <a:srgbClr val="243B2B"/>
                </a:solidFill>
              </a:rPr>
              <a:t>Abstract (graphic abstract)</a:t>
            </a:r>
          </a:p>
          <a:p>
            <a:r>
              <a:rPr lang="en-US" altLang="zh-CN" dirty="0">
                <a:solidFill>
                  <a:srgbClr val="243B2B"/>
                </a:solidFill>
              </a:rPr>
              <a:t>Highlights</a:t>
            </a:r>
          </a:p>
          <a:p>
            <a:r>
              <a:rPr lang="en-US" altLang="zh-CN" dirty="0">
                <a:solidFill>
                  <a:srgbClr val="243B2B"/>
                </a:solidFill>
              </a:rPr>
              <a:t>Introduction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Theory or Modeling</a:t>
            </a:r>
          </a:p>
          <a:p>
            <a:r>
              <a:rPr lang="en-US" altLang="zh-CN" dirty="0">
                <a:solidFill>
                  <a:srgbClr val="243B2B"/>
                </a:solidFill>
              </a:rPr>
              <a:t>Materials and Methods</a:t>
            </a:r>
          </a:p>
          <a:p>
            <a:r>
              <a:rPr lang="en-US" altLang="zh-CN" dirty="0">
                <a:solidFill>
                  <a:srgbClr val="243B2B"/>
                </a:solidFill>
              </a:rPr>
              <a:t>Results and Discussion</a:t>
            </a:r>
          </a:p>
          <a:p>
            <a:r>
              <a:rPr lang="en-US" altLang="zh-CN" dirty="0">
                <a:solidFill>
                  <a:srgbClr val="243B2B"/>
                </a:solidFill>
              </a:rPr>
              <a:t>Conclusion</a:t>
            </a:r>
          </a:p>
          <a:p>
            <a:r>
              <a:rPr lang="en-US" altLang="zh-CN" dirty="0">
                <a:solidFill>
                  <a:srgbClr val="243B2B"/>
                </a:solidFill>
              </a:rPr>
              <a:t>Supporting information</a:t>
            </a:r>
            <a:endParaRPr lang="zh-CN" altLang="en-US" dirty="0">
              <a:solidFill>
                <a:srgbClr val="243B2B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E4A731-4FE4-465B-AA38-44BA05FCA52E}"/>
              </a:ext>
            </a:extLst>
          </p:cNvPr>
          <p:cNvSpPr txBox="1"/>
          <p:nvPr/>
        </p:nvSpPr>
        <p:spPr>
          <a:xfrm>
            <a:off x="2036406" y="5903893"/>
            <a:ext cx="5071188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you did in the study</a:t>
            </a:r>
          </a:p>
          <a:p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you want to learn from the study</a:t>
            </a:r>
            <a:endParaRPr lang="zh-CN" alt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387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15ED97-940F-4291-AB23-3118AB2D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科技论文最重要的准则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04F01FF-7121-4360-A4F1-2C74F2A140BF}"/>
              </a:ext>
            </a:extLst>
          </p:cNvPr>
          <p:cNvGrpSpPr/>
          <p:nvPr/>
        </p:nvGrpSpPr>
        <p:grpSpPr>
          <a:xfrm>
            <a:off x="534380" y="5949280"/>
            <a:ext cx="8075240" cy="765955"/>
            <a:chOff x="611560" y="1294893"/>
            <a:chExt cx="8075240" cy="76595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7ED5D98-862C-4AE8-9C45-EFD55530F84E}"/>
                </a:ext>
              </a:extLst>
            </p:cNvPr>
            <p:cNvSpPr/>
            <p:nvPr/>
          </p:nvSpPr>
          <p:spPr>
            <a:xfrm>
              <a:off x="611560" y="1294893"/>
              <a:ext cx="8075240" cy="7659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43B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4603EB2-7661-4836-9FA4-2053DFE0A467}"/>
                </a:ext>
              </a:extLst>
            </p:cNvPr>
            <p:cNvSpPr txBox="1"/>
            <p:nvPr/>
          </p:nvSpPr>
          <p:spPr>
            <a:xfrm>
              <a:off x="832756" y="1416260"/>
              <a:ext cx="76328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Clarity —— Make the Paper Easier to Read</a:t>
              </a:r>
            </a:p>
          </p:txBody>
        </p:sp>
      </p:grpSp>
      <p:pic>
        <p:nvPicPr>
          <p:cNvPr id="9" name="图片 8" descr="徽标&#10;&#10;中度可信度描述已自动生成">
            <a:extLst>
              <a:ext uri="{FF2B5EF4-FFF2-40B4-BE49-F238E27FC236}">
                <a16:creationId xmlns:a16="http://schemas.microsoft.com/office/drawing/2014/main" id="{3183AFD9-2FAB-4378-B655-CF02734E0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68760"/>
            <a:ext cx="7488832" cy="452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8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5677A-8DBA-40A8-9054-5A48DEE0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论文题目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710DE77-1CA9-422D-9515-0802307A8CBF}"/>
              </a:ext>
            </a:extLst>
          </p:cNvPr>
          <p:cNvGrpSpPr/>
          <p:nvPr/>
        </p:nvGrpSpPr>
        <p:grpSpPr>
          <a:xfrm>
            <a:off x="534380" y="5949280"/>
            <a:ext cx="8075240" cy="765955"/>
            <a:chOff x="611560" y="1294893"/>
            <a:chExt cx="8075240" cy="76595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C09EC0F-4F30-4B55-BFB4-93025841F191}"/>
                </a:ext>
              </a:extLst>
            </p:cNvPr>
            <p:cNvSpPr/>
            <p:nvPr/>
          </p:nvSpPr>
          <p:spPr>
            <a:xfrm>
              <a:off x="611560" y="1294893"/>
              <a:ext cx="8075240" cy="7659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43B2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4E43FAF-80D9-4CC3-8CE0-460B2D4C763E}"/>
                </a:ext>
              </a:extLst>
            </p:cNvPr>
            <p:cNvSpPr txBox="1"/>
            <p:nvPr/>
          </p:nvSpPr>
          <p:spPr>
            <a:xfrm>
              <a:off x="832756" y="1416260"/>
              <a:ext cx="76328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Attractive   Concise   Informative</a:t>
              </a:r>
            </a:p>
          </p:txBody>
        </p:sp>
      </p:grp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91C1EC0-8927-49B3-A93C-8438C12FE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70"/>
            <a:ext cx="8229600" cy="4968523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243B2B"/>
                </a:solidFill>
              </a:rPr>
              <a:t>The critical need for increased selectivity,</a:t>
            </a:r>
            <a:r>
              <a:rPr lang="zh-CN" altLang="en-US" sz="2000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243B2B"/>
                </a:solidFill>
              </a:rPr>
              <a:t>not</a:t>
            </a:r>
            <a:r>
              <a:rPr lang="zh-CN" altLang="en-US" sz="2000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243B2B"/>
                </a:solidFill>
              </a:rPr>
              <a:t>increased</a:t>
            </a:r>
            <a:r>
              <a:rPr lang="zh-CN" altLang="en-US" sz="2000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243B2B"/>
                </a:solidFill>
              </a:rPr>
              <a:t>water</a:t>
            </a:r>
            <a:r>
              <a:rPr lang="zh-CN" altLang="en-US" sz="2000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243B2B"/>
                </a:solidFill>
              </a:rPr>
              <a:t>permeability,</a:t>
            </a:r>
            <a:r>
              <a:rPr lang="zh-CN" altLang="en-US" sz="2000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243B2B"/>
                </a:solidFill>
              </a:rPr>
              <a:t>for</a:t>
            </a:r>
            <a:r>
              <a:rPr lang="zh-CN" altLang="en-US" sz="2000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243B2B"/>
                </a:solidFill>
              </a:rPr>
              <a:t>desalination</a:t>
            </a:r>
            <a:r>
              <a:rPr lang="zh-CN" altLang="en-US" sz="2000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243B2B"/>
                </a:solidFill>
              </a:rPr>
              <a:t>membranes</a:t>
            </a:r>
          </a:p>
          <a:p>
            <a:r>
              <a:rPr lang="en-US" altLang="zh-CN" sz="2000" dirty="0">
                <a:solidFill>
                  <a:srgbClr val="243B2B"/>
                </a:solidFill>
              </a:rPr>
              <a:t>Antibacterial effect of carbon nanotubes: size does matter!</a:t>
            </a:r>
          </a:p>
          <a:p>
            <a:r>
              <a:rPr lang="en-US" altLang="zh-CN" sz="2000" dirty="0">
                <a:solidFill>
                  <a:srgbClr val="243B2B"/>
                </a:solidFill>
              </a:rPr>
              <a:t>Aggregation kinetics of multiwalled carbon nanotubes in aquatic systems: measurements and environmental implications</a:t>
            </a:r>
          </a:p>
          <a:p>
            <a:r>
              <a:rPr lang="en-US" altLang="zh-CN" sz="2000" dirty="0">
                <a:solidFill>
                  <a:srgbClr val="243B2B"/>
                </a:solidFill>
              </a:rPr>
              <a:t>Polyamide membranes with nanoscale Turing structures for water purification</a:t>
            </a:r>
          </a:p>
          <a:p>
            <a:r>
              <a:rPr lang="en-US" altLang="zh-CN" sz="2000" dirty="0">
                <a:solidFill>
                  <a:srgbClr val="243B2B"/>
                </a:solidFill>
              </a:rPr>
              <a:t>Maximizing the right stuff: The trade-off between membrane permeability and selectivity</a:t>
            </a:r>
          </a:p>
          <a:p>
            <a:r>
              <a:rPr lang="en-US" altLang="zh-CN" sz="2000" dirty="0">
                <a:solidFill>
                  <a:srgbClr val="243B2B"/>
                </a:solidFill>
              </a:rPr>
              <a:t>Sub–10 nm polyamide nanofilms with ultrafast solvent transport for molecular separation</a:t>
            </a:r>
          </a:p>
          <a:p>
            <a:r>
              <a:rPr lang="en-US" altLang="zh-CN" sz="2000" dirty="0">
                <a:solidFill>
                  <a:srgbClr val="243B2B"/>
                </a:solidFill>
              </a:rPr>
              <a:t>Enhanced antibacterial activity through the controlled alignment of graphene oxide nanosheets</a:t>
            </a:r>
            <a:endParaRPr lang="zh-CN" altLang="en-US" sz="2000" dirty="0">
              <a:solidFill>
                <a:srgbClr val="243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62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89A84-F333-4C51-9ACE-12B76DC7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摘要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3EBF28-B75B-4F91-B53F-8133EE23B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考虑某些人可能只看看你的论文摘要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对于众所周知的背景问题可以不写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不要过于定性和一般性陈述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适当的放入一些定量的结果（也别太多）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简洁、清晰、概括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243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71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74A91-A8B4-45BB-9A01-EA329948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摘要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A700B99-0033-45CC-AD73-D3FAAC3E9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237"/>
            <a:ext cx="9144000" cy="541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5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DC371-9A19-4654-945C-7554751A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前言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C4AF8B-CFAD-45D5-8118-4011F0A15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70"/>
            <a:ext cx="8229600" cy="5256566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rgbClr val="243B2B"/>
                </a:solidFill>
              </a:rPr>
              <a:t>Introductory paragraph (1-2 paragraphs)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Give a general introduction to the topic for a broad audience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Narrow the focus to your particular topic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State your research problem and aims</a:t>
            </a:r>
          </a:p>
          <a:p>
            <a:r>
              <a:rPr lang="en-US" altLang="zh-CN" sz="2000" b="1" dirty="0">
                <a:solidFill>
                  <a:srgbClr val="243B2B"/>
                </a:solidFill>
              </a:rPr>
              <a:t>Literature review (1-2 paragraphs)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Summarize the relevant literature on your topic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Describe the current state of the art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Note any gaps in the literature that you study will address</a:t>
            </a:r>
          </a:p>
          <a:p>
            <a:r>
              <a:rPr lang="en-US" altLang="zh-CN" sz="2000" b="1" dirty="0">
                <a:solidFill>
                  <a:srgbClr val="243B2B"/>
                </a:solidFill>
              </a:rPr>
              <a:t>Research targets (1 paragraph)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State your hypothesis or research question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Based on the above critical review, why your paper is needed and how it will add to the body of knowledge</a:t>
            </a:r>
          </a:p>
          <a:p>
            <a:r>
              <a:rPr lang="en-US" altLang="zh-CN" sz="2000" b="1" dirty="0">
                <a:solidFill>
                  <a:srgbClr val="243B2B"/>
                </a:solidFill>
              </a:rPr>
              <a:t>Paper overview (1 paragraph)</a:t>
            </a:r>
          </a:p>
          <a:p>
            <a:pPr lvl="1"/>
            <a:r>
              <a:rPr lang="en-US" altLang="zh-CN" sz="1800" dirty="0">
                <a:solidFill>
                  <a:srgbClr val="243B2B"/>
                </a:solidFill>
              </a:rPr>
              <a:t>state the objectives and scope of the paper, with possibly a general finding and/or importance</a:t>
            </a:r>
            <a:endParaRPr lang="zh-CN" altLang="en-US" sz="1800" dirty="0">
              <a:solidFill>
                <a:srgbClr val="243B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971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BE1E6-2BB5-4502-A67B-C7B5C61A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前言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6DA95-78D3-4F05-A1DE-547AFF4B9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Start broadly and then narrow down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State the aims and importance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Cite thoroughly but not excessively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Avoid giving too many citations for one point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Clearly state your hypothesis or research question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Show, don’t tell (why the topic is important)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Don’t bury your reader in detail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243B2B"/>
                </a:solidFill>
              </a:rPr>
              <a:t>After stating the objective, highlight in general terms what you have done and the general/broad findings</a:t>
            </a:r>
          </a:p>
        </p:txBody>
      </p:sp>
    </p:spTree>
    <p:extLst>
      <p:ext uri="{BB962C8B-B14F-4D97-AF65-F5344CB8AC3E}">
        <p14:creationId xmlns:p14="http://schemas.microsoft.com/office/powerpoint/2010/main" val="3868161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93566-F09D-4305-B835-0FBE3DD6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主体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898A28-03F0-411A-B61E-15691CBCA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越简单越好、别啰嗦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尽量少使用长句子，在主语之后立刻看到行为动词。句子以熟悉的信息开始，关键信息结束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使用短的段落（</a:t>
            </a:r>
            <a:r>
              <a:rPr lang="en-US" altLang="zh-CN" sz="2400" dirty="0">
                <a:solidFill>
                  <a:srgbClr val="243B2B"/>
                </a:solidFill>
              </a:rPr>
              <a:t>3-6</a:t>
            </a:r>
            <a:r>
              <a:rPr lang="zh-CN" altLang="en-US" sz="2400" dirty="0">
                <a:solidFill>
                  <a:srgbClr val="243B2B"/>
                </a:solidFill>
              </a:rPr>
              <a:t>句）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每段说明一件事情，段首或段尾总结本段内容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从标题到结论都要连贯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句句相扣，段段相连</a:t>
            </a:r>
            <a:endParaRPr lang="en-US" altLang="zh-CN" sz="2400" dirty="0">
              <a:solidFill>
                <a:srgbClr val="243B2B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243B2B"/>
                </a:solidFill>
              </a:rPr>
              <a:t>语言自信一些</a:t>
            </a:r>
          </a:p>
        </p:txBody>
      </p:sp>
      <p:pic>
        <p:nvPicPr>
          <p:cNvPr id="4" name="Picture 2" descr="A comic illustration shows a man in a high-back chair seated behind a desk. A woman is seated at the desk, across from the man. The man is clutching papers in his hand and a quote bubble indicates he is saying, “No, no, if you make the paper too easy to read, everyone will know how you got the results!”">
            <a:extLst>
              <a:ext uri="{FF2B5EF4-FFF2-40B4-BE49-F238E27FC236}">
                <a16:creationId xmlns:a16="http://schemas.microsoft.com/office/drawing/2014/main" id="{02F978F3-1AC3-47C3-BB73-29D49A7B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946861"/>
            <a:ext cx="3419872" cy="2898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5736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5B935-A71F-4551-9134-35E454B7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结论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3DC3D-ECB2-4E48-AA0B-EEC859B9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243B2B"/>
                </a:solidFill>
              </a:rPr>
              <a:t>不要重复摘要</a:t>
            </a:r>
            <a:endParaRPr lang="en-US" altLang="zh-CN" dirty="0">
              <a:solidFill>
                <a:srgbClr val="243B2B"/>
              </a:solidFill>
            </a:endParaRPr>
          </a:p>
          <a:p>
            <a:r>
              <a:rPr lang="zh-CN" altLang="en-US" dirty="0">
                <a:solidFill>
                  <a:srgbClr val="243B2B"/>
                </a:solidFill>
              </a:rPr>
              <a:t>核心的结论</a:t>
            </a:r>
            <a:endParaRPr lang="en-US" altLang="zh-CN" dirty="0">
              <a:solidFill>
                <a:srgbClr val="243B2B"/>
              </a:solidFill>
            </a:endParaRPr>
          </a:p>
          <a:p>
            <a:r>
              <a:rPr lang="zh-CN" altLang="en-US" dirty="0">
                <a:solidFill>
                  <a:srgbClr val="243B2B"/>
                </a:solidFill>
              </a:rPr>
              <a:t>说明其潜在的意义</a:t>
            </a:r>
          </a:p>
        </p:txBody>
      </p:sp>
    </p:spTree>
    <p:extLst>
      <p:ext uri="{BB962C8B-B14F-4D97-AF65-F5344CB8AC3E}">
        <p14:creationId xmlns:p14="http://schemas.microsoft.com/office/powerpoint/2010/main" val="2771080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338C8-99F7-4B65-83F4-4C16E4570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9D0FA5-ACBE-45C7-A96D-F08BFA93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36404"/>
            <a:ext cx="3801790" cy="5133532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DF8EFA7-A33C-4598-A2AB-61A51C44EDA7}"/>
              </a:ext>
            </a:extLst>
          </p:cNvPr>
          <p:cNvCxnSpPr/>
          <p:nvPr/>
        </p:nvCxnSpPr>
        <p:spPr>
          <a:xfrm>
            <a:off x="4572000" y="5301208"/>
            <a:ext cx="1224136" cy="0"/>
          </a:xfrm>
          <a:prstGeom prst="line">
            <a:avLst/>
          </a:prstGeom>
          <a:ln>
            <a:solidFill>
              <a:srgbClr val="243B2B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4E6DA15-2D4A-4ECB-84C9-5FF978D610E7}"/>
              </a:ext>
            </a:extLst>
          </p:cNvPr>
          <p:cNvSpPr txBox="1"/>
          <p:nvPr/>
        </p:nvSpPr>
        <p:spPr>
          <a:xfrm>
            <a:off x="5954786" y="5101153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详细的图说明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F24E3B5-8183-4B9A-AF85-0E949DB7E801}"/>
              </a:ext>
            </a:extLst>
          </p:cNvPr>
          <p:cNvCxnSpPr>
            <a:cxnSpLocks/>
          </p:cNvCxnSpPr>
          <p:nvPr/>
        </p:nvCxnSpPr>
        <p:spPr>
          <a:xfrm>
            <a:off x="4839994" y="2533546"/>
            <a:ext cx="976180" cy="0"/>
          </a:xfrm>
          <a:prstGeom prst="line">
            <a:avLst/>
          </a:prstGeom>
          <a:ln>
            <a:solidFill>
              <a:srgbClr val="243B2B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F986755-B919-493D-8959-CCEF234154B7}"/>
              </a:ext>
            </a:extLst>
          </p:cNvPr>
          <p:cNvSpPr txBox="1"/>
          <p:nvPr/>
        </p:nvSpPr>
        <p:spPr>
          <a:xfrm>
            <a:off x="5954786" y="2348880"/>
            <a:ext cx="2160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清晰的数据、坐标轴标题、图例等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983342C-D06F-4DB0-86A8-67C080D573B0}"/>
              </a:ext>
            </a:extLst>
          </p:cNvPr>
          <p:cNvCxnSpPr>
            <a:cxnSpLocks/>
          </p:cNvCxnSpPr>
          <p:nvPr/>
        </p:nvCxnSpPr>
        <p:spPr>
          <a:xfrm>
            <a:off x="4839994" y="3501879"/>
            <a:ext cx="976180" cy="0"/>
          </a:xfrm>
          <a:prstGeom prst="line">
            <a:avLst/>
          </a:prstGeom>
          <a:ln>
            <a:solidFill>
              <a:srgbClr val="243B2B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0260F97-973C-4E85-ACCC-A0F48A51F53F}"/>
              </a:ext>
            </a:extLst>
          </p:cNvPr>
          <p:cNvSpPr txBox="1"/>
          <p:nvPr/>
        </p:nvSpPr>
        <p:spPr>
          <a:xfrm>
            <a:off x="5954786" y="3317213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坐标轴标题建议单词首字母大写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2FB6BA3-101B-43F2-84F0-8BB41C44F491}"/>
              </a:ext>
            </a:extLst>
          </p:cNvPr>
          <p:cNvCxnSpPr/>
          <p:nvPr/>
        </p:nvCxnSpPr>
        <p:spPr>
          <a:xfrm>
            <a:off x="4572000" y="5933311"/>
            <a:ext cx="1224136" cy="0"/>
          </a:xfrm>
          <a:prstGeom prst="line">
            <a:avLst/>
          </a:prstGeom>
          <a:ln>
            <a:solidFill>
              <a:srgbClr val="243B2B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7274433-15FD-4938-B066-EAD158808FA5}"/>
              </a:ext>
            </a:extLst>
          </p:cNvPr>
          <p:cNvSpPr txBox="1"/>
          <p:nvPr/>
        </p:nvSpPr>
        <p:spPr>
          <a:xfrm>
            <a:off x="5954786" y="5733256"/>
            <a:ext cx="2721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正文对图表的引用不要打断行文流畅性</a:t>
            </a:r>
          </a:p>
        </p:txBody>
      </p:sp>
    </p:spTree>
    <p:extLst>
      <p:ext uri="{BB962C8B-B14F-4D97-AF65-F5344CB8AC3E}">
        <p14:creationId xmlns:p14="http://schemas.microsoft.com/office/powerpoint/2010/main" val="4081194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25EB4-E5A1-443D-957B-603868D3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图</a:t>
            </a:r>
            <a:endParaRPr lang="zh-CN" altLang="en-US" dirty="0"/>
          </a:p>
        </p:txBody>
      </p:sp>
      <p:pic>
        <p:nvPicPr>
          <p:cNvPr id="7" name="图片 6" descr="图示, 工程绘图&#10;&#10;描述已自动生成">
            <a:extLst>
              <a:ext uri="{FF2B5EF4-FFF2-40B4-BE49-F238E27FC236}">
                <a16:creationId xmlns:a16="http://schemas.microsoft.com/office/drawing/2014/main" id="{F07EA113-86F1-4369-92ED-2C41EB4AE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25544"/>
            <a:ext cx="5517232" cy="52337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EFCEDDF-6C47-49ED-86AE-670CA6490D16}"/>
              </a:ext>
            </a:extLst>
          </p:cNvPr>
          <p:cNvSpPr txBox="1"/>
          <p:nvPr/>
        </p:nvSpPr>
        <p:spPr>
          <a:xfrm>
            <a:off x="6948264" y="2060848"/>
            <a:ext cx="1800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字体大小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边距</a:t>
            </a:r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solidFill>
                <a:srgbClr val="243B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243B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说明同一内容的图放在一起</a:t>
            </a:r>
          </a:p>
        </p:txBody>
      </p:sp>
    </p:spTree>
    <p:extLst>
      <p:ext uri="{BB962C8B-B14F-4D97-AF65-F5344CB8AC3E}">
        <p14:creationId xmlns:p14="http://schemas.microsoft.com/office/powerpoint/2010/main" val="3273793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C78A9-98CF-45A0-8E7B-F70109A2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英语写作的一些技巧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920FE-FF74-41C1-AB7A-D83F816A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70"/>
            <a:ext cx="8229600" cy="5544598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/>
              <a:t>Subjects and verbs too far apart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</a:t>
            </a:r>
            <a:r>
              <a:rPr lang="zh-CN" altLang="en-US" sz="2000" b="1" dirty="0">
                <a:solidFill>
                  <a:srgbClr val="243B2B"/>
                </a:solidFill>
              </a:rPr>
              <a:t> </a:t>
            </a:r>
            <a:r>
              <a:rPr lang="en-US" altLang="zh-CN" sz="2000" dirty="0">
                <a:solidFill>
                  <a:srgbClr val="C00000"/>
                </a:solidFill>
              </a:rPr>
              <a:t>DAN </a:t>
            </a:r>
            <a:r>
              <a:rPr lang="en-US" altLang="zh-CN" sz="2000" dirty="0"/>
              <a:t>in repeat regions or small microsatellites or with long stretches of the same base </a:t>
            </a:r>
            <a:r>
              <a:rPr lang="en-US" altLang="zh-CN" sz="2000" dirty="0">
                <a:solidFill>
                  <a:srgbClr val="C00000"/>
                </a:solidFill>
              </a:rPr>
              <a:t>causes</a:t>
            </a:r>
            <a:r>
              <a:rPr lang="en-US" altLang="zh-CN" sz="2000" dirty="0"/>
              <a:t> problems for next-gen sequencers.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>
                <a:solidFill>
                  <a:srgbClr val="C00000"/>
                </a:solidFill>
              </a:rPr>
              <a:t>DNA causes </a:t>
            </a:r>
            <a:r>
              <a:rPr lang="en-US" altLang="zh-CN" sz="2000" dirty="0"/>
              <a:t>problems for next-gen sequencers when it is in repeat regions or small microsatellites or has long stretches of the same base.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/>
              <a:t>Overabundance of nominalizations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 </a:t>
            </a:r>
            <a:r>
              <a:rPr lang="en-US" altLang="zh-CN" sz="2000" dirty="0"/>
              <a:t>The </a:t>
            </a:r>
            <a:r>
              <a:rPr lang="en-US" altLang="zh-CN" sz="2000" dirty="0">
                <a:solidFill>
                  <a:srgbClr val="C00000"/>
                </a:solidFill>
              </a:rPr>
              <a:t>assumption</a:t>
            </a:r>
            <a:r>
              <a:rPr lang="en-US" altLang="zh-CN" sz="2000" dirty="0"/>
              <a:t> that all RNAs are poly- adenylated is an </a:t>
            </a:r>
            <a:r>
              <a:rPr lang="en-US" altLang="zh-CN" sz="2000" dirty="0">
                <a:solidFill>
                  <a:srgbClr val="C00000"/>
                </a:solidFill>
              </a:rPr>
              <a:t>oversimplification</a:t>
            </a:r>
            <a:r>
              <a:rPr lang="en-US" altLang="zh-CN" sz="2000" dirty="0"/>
              <a:t> of the transcription process.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/>
              <a:t>The model </a:t>
            </a:r>
            <a:r>
              <a:rPr lang="en-US" altLang="zh-CN" sz="2000" dirty="0">
                <a:solidFill>
                  <a:srgbClr val="C00000"/>
                </a:solidFill>
              </a:rPr>
              <a:t>oversimplifies</a:t>
            </a:r>
            <a:r>
              <a:rPr lang="en-US" altLang="zh-CN" sz="2000" dirty="0"/>
              <a:t> the transcription process because it </a:t>
            </a:r>
            <a:r>
              <a:rPr lang="en-US" altLang="zh-CN" sz="2000" dirty="0">
                <a:solidFill>
                  <a:srgbClr val="C00000"/>
                </a:solidFill>
              </a:rPr>
              <a:t>assumes</a:t>
            </a:r>
            <a:r>
              <a:rPr lang="en-US" altLang="zh-CN" sz="2000" dirty="0"/>
              <a:t> that all RNAs are polyadenylated.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 </a:t>
            </a:r>
            <a:r>
              <a:rPr lang="en-US" altLang="zh-CN" sz="2000" dirty="0"/>
              <a:t>Our analysis using regression and k-means clustering revealed...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/>
              <a:t>We analyzed the data with regression and k-means clustering. This analysis revealed...</a:t>
            </a:r>
          </a:p>
        </p:txBody>
      </p:sp>
    </p:spTree>
    <p:extLst>
      <p:ext uri="{BB962C8B-B14F-4D97-AF65-F5344CB8AC3E}">
        <p14:creationId xmlns:p14="http://schemas.microsoft.com/office/powerpoint/2010/main" val="1058158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C78A9-98CF-45A0-8E7B-F70109A2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英语写作的一些技巧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920FE-FF74-41C1-AB7A-D83F816A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/>
              <a:t>Poor flow (misplacement of old vs new information)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 </a:t>
            </a:r>
            <a:r>
              <a:rPr lang="en-US" altLang="zh-CN" sz="2000" dirty="0"/>
              <a:t>We </a:t>
            </a:r>
            <a:r>
              <a:rPr lang="en-US" altLang="zh-CN" sz="2000" dirty="0">
                <a:solidFill>
                  <a:srgbClr val="C00000"/>
                </a:solidFill>
              </a:rPr>
              <a:t>searched </a:t>
            </a:r>
            <a:r>
              <a:rPr lang="en-US" altLang="zh-CN" sz="2000" dirty="0"/>
              <a:t>the database of sequences to look for similar structures</a:t>
            </a:r>
            <a:r>
              <a:rPr lang="en-US" altLang="zh-CN" sz="2000" dirty="0">
                <a:solidFill>
                  <a:srgbClr val="C00000"/>
                </a:solidFill>
              </a:rPr>
              <a:t>. A protein </a:t>
            </a:r>
            <a:r>
              <a:rPr lang="en-US" altLang="zh-CN" sz="2000" dirty="0"/>
              <a:t>involved in the regulation of the BRCA1 gene in humans was found by </a:t>
            </a:r>
            <a:r>
              <a:rPr lang="en-US" altLang="zh-CN" sz="2000" dirty="0">
                <a:solidFill>
                  <a:srgbClr val="C00000"/>
                </a:solidFill>
              </a:rPr>
              <a:t>the search</a:t>
            </a:r>
            <a:r>
              <a:rPr lang="en-US" altLang="zh-CN" sz="2000" dirty="0"/>
              <a:t>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/>
              <a:t>We </a:t>
            </a:r>
            <a:r>
              <a:rPr lang="en-US" altLang="zh-CN" sz="2000" dirty="0">
                <a:solidFill>
                  <a:srgbClr val="C00000"/>
                </a:solidFill>
              </a:rPr>
              <a:t>searched </a:t>
            </a:r>
            <a:r>
              <a:rPr lang="en-US" altLang="zh-CN" sz="2000" dirty="0"/>
              <a:t>the database of sequences to look for similar structures. </a:t>
            </a:r>
            <a:r>
              <a:rPr lang="en-US" altLang="zh-CN" sz="2000" dirty="0">
                <a:solidFill>
                  <a:srgbClr val="C00000"/>
                </a:solidFill>
              </a:rPr>
              <a:t>This search </a:t>
            </a:r>
            <a:r>
              <a:rPr lang="en-US" altLang="zh-CN" sz="2000" dirty="0"/>
              <a:t>found </a:t>
            </a:r>
            <a:r>
              <a:rPr lang="en-US" altLang="zh-CN" sz="2000" dirty="0">
                <a:solidFill>
                  <a:srgbClr val="C00000"/>
                </a:solidFill>
              </a:rPr>
              <a:t>a protein </a:t>
            </a:r>
            <a:r>
              <a:rPr lang="en-US" altLang="zh-CN" sz="2000" dirty="0"/>
              <a:t>involved in the regulation of the BRCA1 gene in humans.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/>
              <a:t>Excessive or unnecessary use of passive voice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 </a:t>
            </a:r>
            <a:r>
              <a:rPr lang="en-US" altLang="zh-CN" sz="2000" dirty="0"/>
              <a:t>To address this problem, a new method </a:t>
            </a:r>
            <a:r>
              <a:rPr lang="en-US" altLang="zh-CN" sz="2000" dirty="0">
                <a:solidFill>
                  <a:srgbClr val="C00000"/>
                </a:solidFill>
              </a:rPr>
              <a:t>was proposed</a:t>
            </a:r>
            <a:r>
              <a:rPr lang="en-US" altLang="zh-CN" sz="2000" dirty="0"/>
              <a:t>…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/>
              <a:t>To address this problem, </a:t>
            </a:r>
            <a:r>
              <a:rPr lang="en-US" altLang="zh-CN" sz="2000" dirty="0">
                <a:solidFill>
                  <a:srgbClr val="C00000"/>
                </a:solidFill>
              </a:rPr>
              <a:t>we proposed </a:t>
            </a:r>
            <a:r>
              <a:rPr lang="en-US" altLang="zh-CN" sz="2000" dirty="0"/>
              <a:t>a new method…</a:t>
            </a:r>
            <a:endParaRPr lang="en-US" altLang="zh-CN" sz="2400" dirty="0"/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30928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C78A9-98CF-45A0-8E7B-F70109A2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英语写作的一些技巧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920FE-FF74-41C1-AB7A-D83F816A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70"/>
            <a:ext cx="8229600" cy="547259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/>
              <a:t>Omit needless words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</a:t>
            </a:r>
            <a:r>
              <a:rPr lang="en-US" altLang="zh-CN" sz="2000" dirty="0">
                <a:solidFill>
                  <a:srgbClr val="243B2B"/>
                </a:solidFill>
              </a:rPr>
              <a:t> It is absolutely vital that...         </a:t>
            </a: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>
                <a:solidFill>
                  <a:srgbClr val="243B2B"/>
                </a:solidFill>
              </a:rPr>
              <a:t>We must...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</a:t>
            </a:r>
            <a:r>
              <a:rPr lang="en-US" altLang="zh-CN" sz="2000" dirty="0">
                <a:solidFill>
                  <a:srgbClr val="243B2B"/>
                </a:solidFill>
              </a:rPr>
              <a:t> There were five mice receiving antibiotics...  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>
                <a:solidFill>
                  <a:srgbClr val="243B2B"/>
                </a:solidFill>
              </a:rPr>
              <a:t>Five mice received antibiotics.</a:t>
            </a: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400" b="1" dirty="0"/>
              <a:t>Put actions in verbs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 </a:t>
            </a:r>
            <a:r>
              <a:rPr lang="en-US" altLang="zh-CN" sz="2000" dirty="0"/>
              <a:t>We performed an analysis…</a:t>
            </a:r>
            <a:r>
              <a:rPr lang="zh-CN" altLang="en-US" sz="2000" dirty="0"/>
              <a:t>    </a:t>
            </a:r>
            <a:r>
              <a:rPr lang="en-US" altLang="zh-CN" sz="2000" dirty="0">
                <a:solidFill>
                  <a:srgbClr val="243B2B"/>
                </a:solidFill>
              </a:rPr>
              <a:t> </a:t>
            </a: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>
                <a:solidFill>
                  <a:srgbClr val="243B2B"/>
                </a:solidFill>
              </a:rPr>
              <a:t>We analyzed...</a:t>
            </a:r>
            <a:endParaRPr lang="en-US" altLang="zh-CN" sz="2000" dirty="0"/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 </a:t>
            </a:r>
            <a:r>
              <a:rPr lang="en-US" altLang="zh-CN" sz="2000" dirty="0"/>
              <a:t>The quantification of the atoms was done…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>
                <a:solidFill>
                  <a:srgbClr val="243B2B"/>
                </a:solidFill>
              </a:rPr>
              <a:t>The atoms were quantified.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NOT: </a:t>
            </a:r>
            <a:r>
              <a:rPr lang="en-US" altLang="zh-CN" sz="2000" dirty="0"/>
              <a:t>It was observed that the solution turned red.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243B2B"/>
                </a:solidFill>
              </a:rPr>
              <a:t>BUT: </a:t>
            </a:r>
            <a:r>
              <a:rPr lang="en-US" altLang="zh-CN" sz="2000" dirty="0">
                <a:solidFill>
                  <a:srgbClr val="243B2B"/>
                </a:solidFill>
              </a:rPr>
              <a:t>The solution turned red. OR we observed that the solution turned red.</a:t>
            </a:r>
          </a:p>
        </p:txBody>
      </p:sp>
    </p:spTree>
    <p:extLst>
      <p:ext uri="{BB962C8B-B14F-4D97-AF65-F5344CB8AC3E}">
        <p14:creationId xmlns:p14="http://schemas.microsoft.com/office/powerpoint/2010/main" val="2034471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1E527-FC42-4943-B8C6-6412DD440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英语写作的时态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E8BF72-0B5A-42F7-A4A1-5AE5D46AB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" y="1302860"/>
            <a:ext cx="8279892" cy="520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22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联系方式已移除 / Contact details removed</a:t>
            </a:r>
          </a:p>
        </p:txBody>
      </p:sp>
    </p:spTree>
    <p:extLst>
      <p:ext uri="{BB962C8B-B14F-4D97-AF65-F5344CB8AC3E}">
        <p14:creationId xmlns:p14="http://schemas.microsoft.com/office/powerpoint/2010/main" val="346215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34610</TotalTime>
  <Words>1081</Words>
  <Application>Microsoft Office PowerPoint</Application>
  <PresentationFormat>全屏显示(4:3)</PresentationFormat>
  <Paragraphs>153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微软雅黑</vt:lpstr>
      <vt:lpstr>Arial</vt:lpstr>
      <vt:lpstr>Arial Black</vt:lpstr>
      <vt:lpstr>Calibri</vt:lpstr>
      <vt:lpstr>Wingdings</vt:lpstr>
      <vt:lpstr>Office 主题</vt:lpstr>
      <vt:lpstr>PowerPoint 演示文稿</vt:lpstr>
      <vt:lpstr>为何要写科技论文？</vt:lpstr>
      <vt:lpstr>为何要写科技论文？</vt:lpstr>
      <vt:lpstr>论文不是实验报告（Report）</vt:lpstr>
      <vt:lpstr>论文的选题（Topic）</vt:lpstr>
      <vt:lpstr>什么时候开始写论文？</vt:lpstr>
      <vt:lpstr>提纲（Outline）的重要性</vt:lpstr>
      <vt:lpstr>如何准备Outline</vt:lpstr>
      <vt:lpstr>如何准备Outline</vt:lpstr>
      <vt:lpstr>科技论文最重要的准则</vt:lpstr>
      <vt:lpstr>论文题目</vt:lpstr>
      <vt:lpstr>摘要</vt:lpstr>
      <vt:lpstr>摘要</vt:lpstr>
      <vt:lpstr>前言</vt:lpstr>
      <vt:lpstr>前言</vt:lpstr>
      <vt:lpstr>主体</vt:lpstr>
      <vt:lpstr>结论</vt:lpstr>
      <vt:lpstr>图</vt:lpstr>
      <vt:lpstr>图</vt:lpstr>
      <vt:lpstr>英语写作的一些技巧</vt:lpstr>
      <vt:lpstr>英语写作的一些技巧</vt:lpstr>
      <vt:lpstr>英语写作的一些技巧</vt:lpstr>
      <vt:lpstr>英语写作的时态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774</cp:revision>
  <dcterms:created xsi:type="dcterms:W3CDTF">2015-09-07T08:03:17Z</dcterms:created>
  <dcterms:modified xsi:type="dcterms:W3CDTF">2022-04-07T04:11:42Z</dcterms:modified>
</cp:coreProperties>
</file>